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6974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Roads to Diversity: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35204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5E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Noise Sharpens, Negative Gradients Explore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86968" y="4617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 Grebenchtchikova &amp; Chung Wong
</a:t>
            </a:r>
            <a:pPr indent="0" marL="0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CS224R · Spring 2026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is the new gold — and ‘diversity’ is how RL spends it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is expensive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34F7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938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 +  GPU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9514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you pay for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94560" y="2660904"/>
            <a:ext cx="0" cy="566928"/>
          </a:xfrm>
          <a:prstGeom prst="line">
            <a:avLst/>
          </a:prstGeom>
          <a:noFill/>
          <a:ln w="28575">
            <a:solidFill>
              <a:srgbClr val="051C2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" y="324612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0679C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0098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66674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burns them exploring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94560" y="4032504"/>
            <a:ext cx="0" cy="566928"/>
          </a:xfrm>
          <a:prstGeom prst="line">
            <a:avLst/>
          </a:prstGeom>
          <a:noFill/>
          <a:ln w="28575">
            <a:solidFill>
              <a:srgbClr val="051C2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" y="461772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FFA8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67258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503834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capability you want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5623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RL-for-reasoning improves by exploring — and exploration costs tokens.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1280160"/>
            <a:ext cx="7388352" cy="50749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6916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‘Diversity’ is two knobs, not one.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FA8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8803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noise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589520" y="3163824"/>
            <a:ext cx="731520" cy="0"/>
          </a:xfrm>
          <a:prstGeom prst="line">
            <a:avLst/>
          </a:prstGeom>
          <a:noFill/>
          <a:ln w="28575">
            <a:solidFill>
              <a:srgbClr val="D5EBF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412480" y="28803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 </a:t>
            </a:r>
            <a:pPr indent="0" marL="0">
              <a:buNone/>
            </a:pPr>
            <a:r>
              <a:rPr lang="en-US" sz="1600" dirty="0">
                <a:solidFill>
                  <a:srgbClr val="D5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(entropy ↓)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388620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0679C3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8862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gradient (e3)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89520" y="4169664"/>
            <a:ext cx="731520" cy="0"/>
          </a:xfrm>
          <a:prstGeom prst="line">
            <a:avLst/>
          </a:prstGeom>
          <a:noFill/>
          <a:ln w="28575">
            <a:solidFill>
              <a:srgbClr val="D5EBF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412480" y="388620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 </a:t>
            </a:r>
            <a:pPr indent="0" marL="0">
              <a:buNone/>
            </a:pPr>
            <a:r>
              <a:rPr lang="en-US" sz="1600" dirty="0">
                <a:solidFill>
                  <a:srgbClr val="D5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(entropy ↑)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54880" y="50749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5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— even opposing — interventions that happen to share one word.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Today’s recipe for ‘diversity’ gives inconsistent returns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learned abstractions (RLAD) help? It depends on the model and the benchmark.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2103120" y="17830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83280" y="17830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DeepScaleR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7830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Qwen3-1.7B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48840" y="2286000"/>
            <a:ext cx="1188720" cy="658368"/>
          </a:xfrm>
          <a:prstGeom prst="rect">
            <a:avLst/>
          </a:prstGeom>
          <a:solidFill>
            <a:srgbClr val="DCE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228600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7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2C7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29000" y="2286000"/>
            <a:ext cx="1188720" cy="658368"/>
          </a:xfrm>
          <a:prstGeom prst="rect">
            <a:avLst/>
          </a:prstGeom>
          <a:solidFill>
            <a:srgbClr val="DCE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28600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7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2C7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+1.9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09160" y="2286000"/>
            <a:ext cx="1188720" cy="658368"/>
          </a:xfrm>
          <a:prstGeom prst="rect">
            <a:avLst/>
          </a:prstGeom>
          <a:solidFill>
            <a:srgbClr val="F6DA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28600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</a:t>
            </a:r>
            <a:pPr algn="ctr" indent="0" marL="0">
              <a:buNone/>
            </a:pPr>
            <a:r>
              <a:rPr lang="en-US" sz="1200" dirty="0">
                <a:solidFill>
                  <a:srgbClr val="C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−8.4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2990088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DAPO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148840" y="3035808"/>
            <a:ext cx="1188720" cy="658368"/>
          </a:xfrm>
          <a:prstGeom prst="rect">
            <a:avLst/>
          </a:prstGeom>
          <a:solidFill>
            <a:srgbClr val="F6DA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303580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</a:t>
            </a:r>
            <a:pPr algn="ctr" indent="0" marL="0">
              <a:buNone/>
            </a:pPr>
            <a:r>
              <a:rPr lang="en-US" sz="1200" dirty="0">
                <a:solidFill>
                  <a:srgbClr val="C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−3.0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29000" y="3035808"/>
            <a:ext cx="1188720" cy="658368"/>
          </a:xfrm>
          <a:prstGeom prst="rect">
            <a:avLst/>
          </a:prstGeom>
          <a:solidFill>
            <a:srgbClr val="DCE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03580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7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2C7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09160" y="3035808"/>
            <a:ext cx="1188720" cy="658368"/>
          </a:xfrm>
          <a:prstGeom prst="rect">
            <a:avLst/>
          </a:prstGeom>
          <a:solidFill>
            <a:srgbClr val="F6DA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03580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</a:t>
            </a:r>
            <a:pPr algn="ctr" indent="0" marL="0">
              <a:buNone/>
            </a:pPr>
            <a:r>
              <a:rPr lang="en-US" sz="1200" dirty="0">
                <a:solidFill>
                  <a:srgbClr val="C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3739896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RLAD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148840" y="3785616"/>
            <a:ext cx="1188720" cy="658368"/>
          </a:xfrm>
          <a:prstGeom prst="rect">
            <a:avLst/>
          </a:prstGeom>
          <a:solidFill>
            <a:srgbClr val="DCE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378561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7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2C7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29000" y="3785616"/>
            <a:ext cx="1188720" cy="658368"/>
          </a:xfrm>
          <a:prstGeom prst="rect">
            <a:avLst/>
          </a:prstGeom>
          <a:solidFill>
            <a:srgbClr val="DCE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78561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7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2C7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+1.3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09160" y="3785616"/>
            <a:ext cx="1188720" cy="658368"/>
          </a:xfrm>
          <a:prstGeom prst="rect">
            <a:avLst/>
          </a:prstGeom>
          <a:solidFill>
            <a:srgbClr val="DCE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78561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7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2C7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462686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7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</a:t>
            </a:r>
            <a:pPr indent="0" marL="0">
              <a:buNone/>
            </a:pPr>
            <a:r>
              <a:rPr lang="en-US" sz="11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abstractions help    </a:t>
            </a:r>
            <a:pPr indent="0" marL="0">
              <a:buNone/>
            </a:pPr>
            <a:r>
              <a:rPr lang="en-US" sz="1150" b="1" dirty="0">
                <a:solidFill>
                  <a:srgbClr val="C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</a:t>
            </a:r>
            <a:pPr indent="0" marL="0">
              <a:buNone/>
            </a:pPr>
            <a:r>
              <a:rPr lang="en-US" sz="11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abstractions hurt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change w/o → w/ abstractions (avg).  Source: Qu et al., RLAD (2025), Table 2.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55080" y="1280160"/>
            <a:ext cx="5376672" cy="50749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18288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content-rich hint helps on one benchmark and hurts on another …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20840" y="30175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of the effect is the content of the hint — versus just perturbing the input?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6720840" y="52120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test: replace meaningful hints with the simplest content-free alternative — random trivia.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one-line trick matched accuracy at lower cost — so we stress-tested it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A8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result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123444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 (Run B) matched clean accuracy with ~12% shorter responses.</a:t>
            </a:r>
            <a:endParaRPr lang="en-US" sz="1250" dirty="0"/>
          </a:p>
        </p:txBody>
      </p:sp>
      <p:pic>
        <p:nvPicPr>
          <p:cNvPr id="6" name="Image 0" descr="figs/fig_initial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7360920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GSM8K runs (later reruns differ — reconciled in the final report).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092440" y="1280160"/>
            <a:ext cx="3639312" cy="50749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ran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12480" y="214884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0B2A3C"/>
          </a:solidFill>
          <a:ln w="19050">
            <a:solidFill>
              <a:srgbClr val="0679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49640" y="22219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GRPO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49640" y="2587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· trivia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0" y="324612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0B2A3C"/>
          </a:solidFill>
          <a:ln w="19050">
            <a:solidFill>
              <a:srgbClr val="134F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33192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549640" y="3685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· trivia · mixed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0" y="434340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0B2A3C"/>
          </a:solidFill>
          <a:ln w="19050">
            <a:solidFill>
              <a:srgbClr val="FFA8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9640" y="4416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549640" y="47823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· trivia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412480" y="5440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Step-limited: ‘mixed’ = a 50/50 batch mixture, not more compute or data.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Trivia keeps accuracy and reaches peak on roughly half the tokens</a:t>
            </a:r>
            <a:endParaRPr lang="en-US" sz="2300" dirty="0"/>
          </a:p>
        </p:txBody>
      </p:sp>
      <p:pic>
        <p:nvPicPr>
          <p:cNvPr id="3" name="Image 0" descr="figs/fig_effici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836676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006840" y="1280160"/>
            <a:ext cx="2724912" cy="50749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5" name="Text 2"/>
          <p:cNvSpPr/>
          <p:nvPr/>
        </p:nvSpPr>
        <p:spPr>
          <a:xfrm>
            <a:off x="9281160" y="1600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preserved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281160" y="19842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in-distribution, no cost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281160" y="2788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Truncations 16% → 14%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281160" y="317296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cut-off answers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281160" y="4069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~21M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9281160" y="47548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~40M tokens to peak  </a:t>
            </a:r>
            <a:pPr indent="0" marL="0">
              <a:buNone/>
            </a:pPr>
            <a:r>
              <a:rPr lang="en-US" sz="1350" b="1" dirty="0">
                <a:solidFill>
                  <a:srgbClr val="FF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281160" y="5532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 + trivia (D) vs GRPO clean (A)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MATH the model gets dramatically leaner — for a 2-point price</a:t>
            </a:r>
            <a:endParaRPr lang="en-US" sz="2300" dirty="0"/>
          </a:p>
        </p:txBody>
      </p:sp>
      <p:pic>
        <p:nvPicPr>
          <p:cNvPr id="3" name="Image 0" descr="figs/fig_math_leng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577840" cy="3246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5488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In-distribution: ≈45% leaner (1325 → 727 tokens) for ~2pp accuracy.</a:t>
            </a:r>
            <a:endParaRPr lang="en-US" sz="1200" dirty="0"/>
          </a:p>
        </p:txBody>
      </p:sp>
      <p:pic>
        <p:nvPicPr>
          <p:cNvPr id="5" name="Image 1" descr="figs/fig_aime_ma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54480"/>
            <a:ext cx="2743200" cy="2523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35040" y="4160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but out-of-distribution transfer (AIME 2025) collapses 6×.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9006840" y="1280160"/>
            <a:ext cx="2724912" cy="50749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8" name="Text 4"/>
          <p:cNvSpPr/>
          <p:nvPr/>
        </p:nvSpPr>
        <p:spPr>
          <a:xfrm>
            <a:off x="9281160" y="1645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≈45% leaner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9281160" y="2194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~2pp accuracy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281160" y="297180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5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speed, fewer tokens → trivia finished inside the 24h budget; clean exceeded the cap and had to be stitched.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281160" y="5074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FF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content-aware (e.g. Fibonacci) trivia could do even better.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mechanism: trivia sharpens, e3 explores — opposite knobs</a:t>
            </a:r>
            <a:endParaRPr lang="en-US" sz="2300" dirty="0"/>
          </a:p>
        </p:txBody>
      </p:sp>
      <p:pic>
        <p:nvPicPr>
          <p:cNvPr id="3" name="Image 0" descr="figs/fig_kl_dr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562356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363931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e3 runs stay far closer to base than either GRPO run.</a:t>
            </a:r>
            <a:endParaRPr lang="en-US" sz="1050" dirty="0"/>
          </a:p>
        </p:txBody>
      </p:sp>
      <p:pic>
        <p:nvPicPr>
          <p:cNvPr id="5" name="Image 1" descr="figs/fig_aime_gsm8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023360"/>
            <a:ext cx="3291840" cy="2331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355080" y="1280160"/>
            <a:ext cx="5376672" cy="50749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7" name="Shape 3"/>
          <p:cNvSpPr/>
          <p:nvPr/>
        </p:nvSpPr>
        <p:spPr>
          <a:xfrm>
            <a:off x="6675120" y="17373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A800"/>
          </a:solidFill>
          <a:ln/>
        </p:spPr>
      </p:sp>
      <p:sp>
        <p:nvSpPr>
          <p:cNvPr id="8" name="Text 4"/>
          <p:cNvSpPr/>
          <p:nvPr/>
        </p:nvSpPr>
        <p:spPr>
          <a:xfrm>
            <a:off x="6675120" y="1737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noise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961120" y="2011680"/>
            <a:ext cx="640080" cy="0"/>
          </a:xfrm>
          <a:prstGeom prst="line">
            <a:avLst/>
          </a:prstGeom>
          <a:noFill/>
          <a:ln w="28575">
            <a:solidFill>
              <a:srgbClr val="D5EBFA"/>
            </a:solidFill>
            <a:prstDash val="solid"/>
            <a:tailEnd type="triangle"/>
          </a:ln>
        </p:spPr>
      </p:sp>
      <p:sp>
        <p:nvSpPr>
          <p:cNvPr id="10" name="Text 6"/>
          <p:cNvSpPr/>
          <p:nvPr/>
        </p:nvSpPr>
        <p:spPr>
          <a:xfrm>
            <a:off x="964692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↓ · sharpen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675120" y="269748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679C3"/>
          </a:solidFill>
          <a:ln/>
        </p:spPr>
      </p:sp>
      <p:sp>
        <p:nvSpPr>
          <p:cNvPr id="12" name="Text 8"/>
          <p:cNvSpPr/>
          <p:nvPr/>
        </p:nvSpPr>
        <p:spPr>
          <a:xfrm>
            <a:off x="6675120" y="2697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gradient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961120" y="2971800"/>
            <a:ext cx="640080" cy="0"/>
          </a:xfrm>
          <a:prstGeom prst="line">
            <a:avLst/>
          </a:prstGeom>
          <a:noFill/>
          <a:ln w="28575">
            <a:solidFill>
              <a:srgbClr val="D5EBFA"/>
            </a:solidFill>
            <a:prstDash val="solid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9646920" y="2697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↑ · explore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675120" y="3657600"/>
            <a:ext cx="4754880" cy="1417320"/>
          </a:xfrm>
          <a:prstGeom prst="roundRect">
            <a:avLst>
              <a:gd name="adj" fmla="val 3871"/>
            </a:avLst>
          </a:prstGeom>
          <a:solidFill>
            <a:srgbClr val="0B2A3C"/>
          </a:solidFill>
          <a:ln w="19050">
            <a:solidFill>
              <a:srgbClr val="CD303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0" y="379476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twist.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MATH-trivia drifts least from base, yet transfers worst (AIME 0.023). Low KL is necessary, not sufficient for generalisation.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675120" y="52578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D5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Entropy: GRPO &amp; trivia collapse (~.02); e3 stays high (.13–.18). GSM8K-trained AIME gaps sit within error bars — only the e3 gradient is a clear lever.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 they’re the sweet spot — and here’s where it goes next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A8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
</a:t>
            </a:r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(↓ tokens)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134F7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0233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
</a:t>
            </a:r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(closest to base)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29000" y="2331720"/>
            <a:ext cx="1417320" cy="1005840"/>
          </a:xfrm>
          <a:prstGeom prst="line">
            <a:avLst/>
          </a:prstGeom>
          <a:noFill/>
          <a:ln w="28575">
            <a:solidFill>
              <a:srgbClr val="7A8B9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29000" y="4526280"/>
            <a:ext cx="1417320" cy="-1005840"/>
          </a:xfrm>
          <a:prstGeom prst="line">
            <a:avLst/>
          </a:prstGeom>
          <a:noFill/>
          <a:ln w="28575">
            <a:solidFill>
              <a:srgbClr val="7A8B9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83480" y="269748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051C2C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26974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e3 + trivia
</a:t>
            </a:r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token-efficient AND closest to base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503920" y="1280160"/>
            <a:ext cx="3227832" cy="50749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goes next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778240" y="2240280"/>
            <a:ext cx="292608" cy="292608"/>
          </a:xfrm>
          <a:prstGeom prst="ellipse">
            <a:avLst/>
          </a:prstGeom>
          <a:solidFill>
            <a:srgbClr val="FFA800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213055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/ content-aware trivia on MATH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24544" y="2551176"/>
            <a:ext cx="0" cy="777240"/>
          </a:xfrm>
          <a:prstGeom prst="line">
            <a:avLst/>
          </a:prstGeom>
          <a:noFill/>
          <a:ln w="28575">
            <a:solidFill>
              <a:srgbClr val="D5EBF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778240" y="3383280"/>
            <a:ext cx="292608" cy="292608"/>
          </a:xfrm>
          <a:prstGeom prst="ellipse">
            <a:avLst/>
          </a:prstGeom>
          <a:solidFill>
            <a:srgbClr val="FFA800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327355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AIME conditions, with error bars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24544" y="3694176"/>
            <a:ext cx="0" cy="777240"/>
          </a:xfrm>
          <a:prstGeom prst="line">
            <a:avLst/>
          </a:prstGeom>
          <a:noFill/>
          <a:ln w="28575">
            <a:solidFill>
              <a:srgbClr val="D5EBF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778240" y="4526280"/>
            <a:ext cx="292608" cy="292608"/>
          </a:xfrm>
          <a:prstGeom prst="ellipse">
            <a:avLst/>
          </a:prstGeom>
          <a:solidFill>
            <a:srgbClr val="FFA800"/>
          </a:solidFill>
          <a:ln/>
        </p:spPr>
      </p:sp>
      <p:sp>
        <p:nvSpPr>
          <p:cNvPr id="20" name="Text 18"/>
          <p:cNvSpPr/>
          <p:nvPr/>
        </p:nvSpPr>
        <p:spPr>
          <a:xfrm>
            <a:off x="9189720" y="441655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o4-mini — ties to RLAD’s weak-to-strong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355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e3: Setlur et al. 2025  ·  RLAD: Qu et al. 2025  ·  DAPO: Yu et al. 2025  ·  Yue et al. 2025  ·  Reasoning Cache: Wu et al.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2026-06-02T23:57:08Z</dcterms:created>
  <dcterms:modified xsi:type="dcterms:W3CDTF">2026-06-02T23:57:08Z</dcterms:modified>
</cp:coreProperties>
</file>